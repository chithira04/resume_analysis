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403" y="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7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7.png"/><Relationship Id="rId7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76.png"/><Relationship Id="rId10" Type="http://schemas.openxmlformats.org/officeDocument/2006/relationships/image" Target="../media/image80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7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12" y="2594669"/>
            <a:ext cx="1857375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875" y="5059709"/>
            <a:ext cx="8096250" cy="874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6124426"/>
            <a:ext cx="108394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33142" y="3166169"/>
            <a:ext cx="572571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sz="3300" b="0" i="0" u="none">
                <a:solidFill>
                  <a:srgbClr val="FFFFFF"/>
                </a:solidFill>
                <a:latin typeface="Plus Jakarta Sans ExtraBold"/>
              </a:rPr>
              <a:t>Smart Resume Screener &amp;</a:t>
            </a:r>
            <a:r>
              <a:t>
</a:t>
            </a:r>
            <a:r>
              <a:rPr sz="3300" b="0" i="0" u="none">
                <a:solidFill>
                  <a:srgbClr val="FFFFFF"/>
                </a:solidFill>
                <a:latin typeface="Plus Jakarta Sans ExtraBold"/>
              </a:rPr>
              <a:t>Job Recommendation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5812" y="4356794"/>
            <a:ext cx="3000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Flask + NLP + TF-IDF +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6100" y="6248251"/>
            <a:ext cx="809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8287" y="2708969"/>
            <a:ext cx="1495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DD4BF"/>
                </a:solidFill>
                <a:latin typeface="Plus Jakarta San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7875" y="5307359"/>
            <a:ext cx="54006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CAPSTONE PROJECT 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7875" y="5507384"/>
            <a:ext cx="5143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E2E8F0"/>
                </a:solidFill>
                <a:latin typeface="Plus Jakarta Sans Medium"/>
              </a:rPr>
              <a:t>Chithira CV, Aswin George, Anandhakrishnan S, Nandagopal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2375" y="5307359"/>
            <a:ext cx="27003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SUPERVISION &amp; INSTITUTION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2375" y="5507384"/>
            <a:ext cx="25717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Tutor: Sneha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Institute: RP2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8141" y="1870645"/>
            <a:ext cx="2857500" cy="1054447"/>
          </a:xfrm>
          <a:prstGeom prst="roundRect">
            <a:avLst>
              <a:gd name="adj" fmla="val 45165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22543" y="1797397"/>
            <a:ext cx="2857500" cy="1054447"/>
          </a:xfrm>
          <a:prstGeom prst="roundRect">
            <a:avLst>
              <a:gd name="adj" fmla="val 45165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469951"/>
            <a:ext cx="3486150" cy="210651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469951"/>
            <a:ext cx="3486150" cy="21065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575" y="2469951"/>
            <a:ext cx="3486150" cy="210651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77525" y="6248400"/>
            <a:ext cx="838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 OF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669976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01.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91375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2DD4BF"/>
                </a:solidFill>
                <a:latin typeface="Plus Jakarta Sans"/>
              </a:rPr>
              <a:t>02.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15753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03.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40131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04.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Existing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645098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2DD4BF"/>
                </a:solidFill>
                <a:latin typeface="Plus Jakarta Sans"/>
              </a:rPr>
              <a:t>05.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Proposed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888878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06.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132659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07.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Technology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950" y="2669976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08.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2950" y="291375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2DD4BF"/>
                </a:solidFill>
                <a:latin typeface="Plus Jakarta Sans"/>
              </a:rPr>
              <a:t>09.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Data Preprocessing (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Jupyter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2950" y="315753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2DD4BF"/>
                </a:solidFill>
                <a:latin typeface="Plus Jakarta Sans"/>
              </a:rPr>
              <a:t>10.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Feature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950" y="340131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11.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Model Building (Jupyter)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2950" y="3645098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12.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Model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2950" y="3888878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13.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Model Saving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2950" y="4132659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14.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Flask Web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69976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15.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Application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1375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16.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Screenshots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15753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17.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Advantages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401317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18.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Limitations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45098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19.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88878"/>
            <a:ext cx="3086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20.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275" y="493769"/>
            <a:ext cx="9096375" cy="3726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 i="0" u="none" dirty="0" smtClean="0">
                <a:solidFill>
                  <a:srgbClr val="FFFFFF"/>
                </a:solidFill>
                <a:latin typeface="Plus Jakarta Sans"/>
              </a:rPr>
              <a:t>  </a:t>
            </a:r>
            <a:r>
              <a:rPr sz="2550" b="1" i="0" u="none" dirty="0" smtClean="0">
                <a:solidFill>
                  <a:srgbClr val="FFFFFF"/>
                </a:solidFill>
                <a:latin typeface="Plus Jakarta Sans"/>
              </a:rPr>
              <a:t>Agenda</a:t>
            </a:r>
            <a:endParaRPr sz="255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229445"/>
            <a:ext cx="10839450" cy="2587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77525" y="6248400"/>
            <a:ext cx="838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3 OF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619970"/>
            <a:ext cx="10058400" cy="101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77"/>
              </a:lnSpc>
            </a:pPr>
            <a:r>
              <a:rPr sz="1575" b="0" i="0" u="none">
                <a:solidFill>
                  <a:srgbClr val="F1F5F9"/>
                </a:solidFill>
                <a:latin typeface="Plus Jakarta Sans"/>
              </a:rPr>
              <a:t>The aim of this project is to build an intelligent and user-friendly web application that automatically analyzes uploaded resumes using NLP-driven Machine Learning models and identifies the most suitable job roles for each candidate.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877865"/>
            <a:ext cx="10058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Along with predicting role fit, the system recommends relevant job openings from the database and highlights key strengths and skill gaps, helping users improve their career readiness.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81298"/>
            <a:ext cx="8817568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Introduction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269777"/>
            <a:ext cx="5276850" cy="25068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69777"/>
            <a:ext cx="5276850" cy="25068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77525" y="6248400"/>
            <a:ext cx="838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4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6429" y="2507902"/>
            <a:ext cx="474449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Plus Jakarta Sans"/>
              </a:rPr>
              <a:t>Manual resume screening 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6654" y="2921198"/>
            <a:ext cx="469449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Automation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302198"/>
            <a:ext cx="4800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This project automates resume analysis using Machine Learning and NLP to recommend suitable job roles and predict the most appropriate job category.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531715"/>
            <a:ext cx="186779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4900" y="2984152"/>
            <a:ext cx="4610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1F5F9"/>
                </a:solidFill>
                <a:latin typeface="Plus Jakarta Sans"/>
              </a:rPr>
              <a:t>Time-consuming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372742"/>
            <a:ext cx="4610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1F5F9"/>
                </a:solidFill>
                <a:latin typeface="Plus Jakarta Sans"/>
              </a:rPr>
              <a:t>Error-prone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761333"/>
            <a:ext cx="4610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1F5F9"/>
                </a:solidFill>
                <a:latin typeface="Plus Jakarta Sans"/>
              </a:rPr>
              <a:t>Costly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149923"/>
            <a:ext cx="4610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1F5F9"/>
                </a:solidFill>
                <a:latin typeface="Plus Jakarta Sans"/>
              </a:rPr>
              <a:t>Difficult for recruiters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945010"/>
            <a:ext cx="234404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2984152"/>
            <a:ext cx="1714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72742"/>
            <a:ext cx="1714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61333"/>
            <a:ext cx="1714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49923"/>
            <a:ext cx="1714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81298"/>
            <a:ext cx="8245000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3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77525" y="6248400"/>
            <a:ext cx="838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5 OF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2006947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Automate resume screening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: Remove administrative delays.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2386012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Extract text from uploaded resumes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: Seamless system parsing.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2765077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Predict job category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: High accuracy NLP classification.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3144142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Recommend matching job roles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: Data-driven career mapping.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3523208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Display required skills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: Immediate gap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3902273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 dirty="0">
                <a:solidFill>
                  <a:srgbClr val="FFFFFF"/>
                </a:solidFill>
                <a:latin typeface="Plus Jakarta Sans SemiBold"/>
              </a:rPr>
              <a:t>Show education requirements</a:t>
            </a:r>
            <a:r>
              <a:rPr sz="1162" b="0" i="0" u="none" dirty="0">
                <a:solidFill>
                  <a:srgbClr val="CBD5E1"/>
                </a:solidFill>
                <a:latin typeface="Plus Jakarta Sans"/>
              </a:rPr>
              <a:t>: Validate minimum credentials.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4281338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Generate downloadable PDF report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: Export system-generated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660403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Reduce recruiter workload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: Maximize corporate pipeline throughput.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045047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424112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803177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82242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561308"/>
            <a:ext cx="1238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940373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319438"/>
            <a:ext cx="1238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698503"/>
            <a:ext cx="12382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7725" y="481298"/>
            <a:ext cx="8689382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399258"/>
            <a:ext cx="5276850" cy="2247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99258"/>
            <a:ext cx="5276850" cy="2247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77525" y="6248400"/>
            <a:ext cx="838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6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8804" y="2637383"/>
            <a:ext cx="479450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Existing System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9029" y="2637383"/>
            <a:ext cx="474449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87171"/>
                </a:solidFill>
                <a:latin typeface="Plus Jakarta Sans"/>
              </a:rPr>
              <a:t>System Limitations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61195"/>
            <a:ext cx="139154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4900" y="31136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Manual resume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4374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Time-consuming recruitment process.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7613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Human bias during screening.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0851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No automatic job recommendation.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661195"/>
            <a:ext cx="186779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67500" y="31136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Slow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34374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Low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37613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High manual effort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136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374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613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851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31136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34374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37613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81298"/>
            <a:ext cx="8527011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Existing 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09936"/>
            <a:ext cx="5229225" cy="28265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09936"/>
            <a:ext cx="5229225" cy="28265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87050" y="6248400"/>
            <a:ext cx="8286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7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357586"/>
            <a:ext cx="4970621" cy="238125"/>
          </a:xfrm>
          <a:prstGeom prst="rect">
            <a:avLst/>
          </a:prstGeom>
          <a:noFill/>
        </p:spPr>
        <p:txBody>
          <a:bodyPr wrap="square" lIns="167729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Key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066008"/>
            <a:ext cx="46386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FFFFFF"/>
                </a:solidFill>
                <a:latin typeface="Plus Jakarta Sans Medium"/>
              </a:rPr>
              <a:t>The application extracts resume text, predicts the job category, recommends matching jobs, and generates a PDF report.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395686"/>
            <a:ext cx="167729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925" y="2738586"/>
            <a:ext cx="47339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Upload PDF, DOCX or TXT resume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2982366"/>
            <a:ext cx="47339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Resume text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226147"/>
            <a:ext cx="47339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NLP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469927"/>
            <a:ext cx="47339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TF-IDF feature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713708"/>
            <a:ext cx="47339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Machine Learning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957488"/>
            <a:ext cx="47339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Job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201269"/>
            <a:ext cx="47339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PDF report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445049"/>
            <a:ext cx="47339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User-friendly Flask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81298"/>
            <a:ext cx="8287729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Proposed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3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158" y="3493293"/>
            <a:ext cx="9755683" cy="19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206" y="3255168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012" y="3255168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5817" y="3255168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1623" y="3255168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428" y="3255168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3233" y="3255168"/>
            <a:ext cx="476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9039" y="3255168"/>
            <a:ext cx="476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4844" y="3255168"/>
            <a:ext cx="476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80650" y="3255168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77525" y="6248400"/>
            <a:ext cx="838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8 OF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Resume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2080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Text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7885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Text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3691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TF-IDF Vectorization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9496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Random Forest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302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Category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1107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Job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913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Result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22718" y="3845718"/>
            <a:ext cx="1192262" cy="13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PDF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81298"/>
            <a:ext cx="8065539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456705"/>
            <a:ext cx="2566987" cy="21331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762" y="2456705"/>
            <a:ext cx="2566987" cy="21331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456705"/>
            <a:ext cx="2566987" cy="21331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737" y="2456705"/>
            <a:ext cx="2566987" cy="21331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77525" y="6248400"/>
            <a:ext cx="838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9 OF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656730"/>
            <a:ext cx="2275284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DD4BF"/>
                </a:solidFill>
                <a:latin typeface="Plus Jakarta Sans"/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6300" y="2913905"/>
            <a:ext cx="21669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3787" y="2656730"/>
            <a:ext cx="2275284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DD4BF"/>
                </a:solidFill>
                <a:latin typeface="Plus Jakarta Sans"/>
              </a:rPr>
              <a:t>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3787" y="2913905"/>
            <a:ext cx="21669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275" y="2656730"/>
            <a:ext cx="2275284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DD4BF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275" y="2913905"/>
            <a:ext cx="21669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8762" y="2656730"/>
            <a:ext cx="2275284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DD4BF"/>
                </a:solidFill>
                <a:latin typeface="Plus Jakarta Sans"/>
              </a:rPr>
              <a:t>Libraries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8762" y="2913905"/>
            <a:ext cx="21669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6300" y="3037730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3308151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578572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Bootstrap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3848992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3787" y="3037730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Python Flask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275" y="3037730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Scikit-Learn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275" y="3308151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TF-IDF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275" y="3578572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8762" y="3037730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Pandas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8762" y="3308151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NumPy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762" y="3578572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PyPDF2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8762" y="3848992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python-docx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8762" y="4119413"/>
            <a:ext cx="2166937" cy="21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B82F6"/>
                </a:solidFill>
                <a:latin typeface="Plus Jakarta Sans"/>
              </a:rPr>
              <a:t>▪ 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ReportLab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481298"/>
            <a:ext cx="8450099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Technology Stack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075408"/>
            <a:ext cx="5276850" cy="2895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75408"/>
            <a:ext cx="5276850" cy="2895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20375" y="6248400"/>
            <a:ext cx="8953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10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7379" y="2313533"/>
            <a:ext cx="476450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Dataset contains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9029" y="2961233"/>
            <a:ext cx="474449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Used for: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337345"/>
            <a:ext cx="167729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4900" y="27897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Job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1136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4374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Experience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7613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Required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0851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Education Requirement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44090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Salary Range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985045"/>
            <a:ext cx="186779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67500" y="34374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Model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37613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Job 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7897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1136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374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613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851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090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34374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37613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481298"/>
            <a:ext cx="8655198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Dataset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524446"/>
            <a:ext cx="10839450" cy="39975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58475" y="6248400"/>
            <a:ext cx="8572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11 OF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3971"/>
            <a:ext cx="10820400" cy="3978473"/>
          </a:xfrm>
          <a:prstGeom prst="roundRect">
            <a:avLst>
              <a:gd name="adj" fmla="val 0"/>
            </a:avLst>
          </a:prstGeom>
          <a:solidFill>
            <a:srgbClr val="0B13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21926"/>
              </p:ext>
            </p:extLst>
          </p:nvPr>
        </p:nvGraphicFramePr>
        <p:xfrm>
          <a:off x="685800" y="1533971"/>
          <a:ext cx="10820397" cy="3978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178"/>
                <a:gridCol w="1038225"/>
                <a:gridCol w="2618035"/>
                <a:gridCol w="1306115"/>
                <a:gridCol w="3518296"/>
                <a:gridCol w="1003548"/>
              </a:tblGrid>
              <a:tr h="663078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lus Jakarta Sans SemiBold"/>
                        </a:rPr>
                        <a:t>Job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Education Requirement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Experience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lus Jakarta Sans SemiBold"/>
                        </a:rPr>
                        <a:t>Required Skills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Salary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63078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Software Engineer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Bachelor's in Computer Science|Bachelor's in E...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Python|Java|C++|Git|Software Design|Problem So...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80-150K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3078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Full Stack Developer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chemeClr val="tx1"/>
                          </a:solidFill>
                          <a:latin typeface="Plus Jakarta Sans"/>
                        </a:rPr>
                        <a:t>Diploma in IT|Bachelor's in Computer Science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chemeClr val="tx1"/>
                          </a:solidFill>
                          <a:latin typeface="Plus Jakarta Sans"/>
                        </a:rPr>
                        <a:t>JavaScript|React|Node.js|HTML</a:t>
                      </a:r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/</a:t>
                      </a:r>
                      <a:r>
                        <a:rPr sz="1050" b="0" i="0" u="none" dirty="0" err="1">
                          <a:solidFill>
                            <a:schemeClr val="tx1"/>
                          </a:solidFill>
                          <a:latin typeface="Plus Jakarta Sans"/>
                        </a:rPr>
                        <a:t>CSS|Database|Git</a:t>
                      </a:r>
                      <a:endParaRPr sz="105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75-140K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3078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Frontend Developer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Diploma in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IT|Bachelor's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in Computer </a:t>
                      </a:r>
                      <a:r>
                        <a:rPr sz="1050" b="0" i="0" u="none" dirty="0" smtClean="0">
                          <a:solidFill>
                            <a:srgbClr val="CBD5E1"/>
                          </a:solidFill>
                          <a:latin typeface="Plus Jakarta Sans"/>
                        </a:rPr>
                        <a:t>Science</a:t>
                      </a:r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JavaScript|React|Vue.js|CSS|HTML|UI/UX Design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70-130K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3078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Backend Developer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Bachelor's in Computer Science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chemeClr val="tx1"/>
                          </a:solidFill>
                          <a:latin typeface="Plus Jakarta Sans"/>
                        </a:rPr>
                        <a:t>Python|Java|Node.js|Database</a:t>
                      </a:r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chemeClr val="tx1"/>
                          </a:solidFill>
                          <a:latin typeface="Plus Jakarta Sans"/>
                        </a:rPr>
                        <a:t>Design|API</a:t>
                      </a:r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chemeClr val="tx1"/>
                          </a:solidFill>
                          <a:latin typeface="Plus Jakarta Sans"/>
                        </a:rPr>
                        <a:t>Develo</a:t>
                      </a:r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75-135K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308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DevOps Engineer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Bachelor's in Computer Science|IT Certification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Docker|Kubernetes|AWS|Linux|CI/CD|Scripting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85-150K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85800" y="2184350"/>
            <a:ext cx="1336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21978" y="2184350"/>
            <a:ext cx="1038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60203" y="2184350"/>
            <a:ext cx="2618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78239" y="2184350"/>
            <a:ext cx="13061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84355" y="2184350"/>
            <a:ext cx="35182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02651" y="2184350"/>
            <a:ext cx="10035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49016"/>
            <a:ext cx="1336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21978" y="2849016"/>
            <a:ext cx="1038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60203" y="2849016"/>
            <a:ext cx="2618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78239" y="2849016"/>
            <a:ext cx="13061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84355" y="2849016"/>
            <a:ext cx="35182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502651" y="2849016"/>
            <a:ext cx="10035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513683"/>
            <a:ext cx="1336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21978" y="3513683"/>
            <a:ext cx="1038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60203" y="3513683"/>
            <a:ext cx="2618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78239" y="3513683"/>
            <a:ext cx="13061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84355" y="3513683"/>
            <a:ext cx="35182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502651" y="3513683"/>
            <a:ext cx="10035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4178349"/>
            <a:ext cx="1336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021978" y="4178349"/>
            <a:ext cx="1038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60203" y="4178349"/>
            <a:ext cx="2618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78239" y="4178349"/>
            <a:ext cx="13061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84355" y="4178349"/>
            <a:ext cx="35182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502651" y="4178349"/>
            <a:ext cx="10035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" y="4843016"/>
            <a:ext cx="1336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021978" y="4843016"/>
            <a:ext cx="1038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60203" y="4843016"/>
            <a:ext cx="2618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78239" y="4843016"/>
            <a:ext cx="13061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984355" y="4843016"/>
            <a:ext cx="35182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502651" y="4843016"/>
            <a:ext cx="10035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7725" y="481298"/>
            <a:ext cx="8578286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Dataset Structure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9900" y="6248400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12 OF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81298"/>
            <a:ext cx="8851752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Dataset 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46" name="Picture 2" descr="C:\Users\user\Desktop\Screenshot 2026-07-20 13124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121" y="1820255"/>
            <a:ext cx="5529129" cy="308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895475"/>
            <a:ext cx="10839450" cy="8648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2950815"/>
            <a:ext cx="5276850" cy="2200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950815"/>
            <a:ext cx="5276850" cy="2200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29900" y="6248400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13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190750"/>
            <a:ext cx="10020300" cy="274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Plus Jakarta Sans Medium"/>
              </a:rPr>
              <a:t>Note: All model development was done in Jupyter Notebook.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2242095"/>
            <a:ext cx="1333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44054" y="3188940"/>
            <a:ext cx="469449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Core Preprocessing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9029" y="3188940"/>
            <a:ext cx="474449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NLP Pipeline Cleaning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212752"/>
            <a:ext cx="234404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900" y="361756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Load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394141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Handle Missing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426526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Remove Duplicates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212752"/>
            <a:ext cx="186779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67500" y="361756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Text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394141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Lowercase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426526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Remove Stopwords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458911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Tokenization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756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4141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6526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361756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394141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426526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458911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481298"/>
            <a:ext cx="8283553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Data Preprocessing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584995"/>
            <a:ext cx="5276850" cy="1876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84995"/>
            <a:ext cx="5276850" cy="1876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29900" y="6248400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14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004" y="3058417"/>
            <a:ext cx="471449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TF-IDF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39417"/>
            <a:ext cx="48006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Plus Jakarta Sans"/>
              </a:rPr>
              <a:t>Text is converted into numerical vectors using TF-IDF Vectorizer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9029" y="2823120"/>
            <a:ext cx="474449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Key Benefits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82230"/>
            <a:ext cx="215354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846933"/>
            <a:ext cx="186779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67500" y="325174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Converts text into machine-readable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57559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Removes unimportant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3899445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Improves prediction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25174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357559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899445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81298"/>
            <a:ext cx="8535557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Feature Engineering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615654"/>
            <a:ext cx="10839450" cy="18151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9900" y="6248400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15 OF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25179"/>
            <a:ext cx="10820400" cy="1796057"/>
          </a:xfrm>
          <a:prstGeom prst="roundRect">
            <a:avLst>
              <a:gd name="adj" fmla="val 0"/>
            </a:avLst>
          </a:prstGeom>
          <a:solidFill>
            <a:srgbClr val="0B13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525307"/>
              </p:ext>
            </p:extLst>
          </p:nvPr>
        </p:nvGraphicFramePr>
        <p:xfrm>
          <a:off x="685800" y="2625179"/>
          <a:ext cx="10820399" cy="1796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550"/>
                <a:gridCol w="1675804"/>
                <a:gridCol w="7030045"/>
              </a:tblGrid>
              <a:tr h="449014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lus Jakarta Sans SemiBold"/>
                        </a:rPr>
                        <a:t>Preprocessing Step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Used?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Explanation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9014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Lowercase Conversion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22C55E"/>
                          </a:solidFill>
                          <a:latin typeface="Plus Jakarta Sans"/>
                        </a:rPr>
                        <a:t> Yes (automatic)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TfidfVectorizer converts text to lowercase by default (lowercase=True).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014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Remove </a:t>
                      </a:r>
                      <a:r>
                        <a:rPr sz="1050" b="1" i="0" u="none" dirty="0" err="1">
                          <a:solidFill>
                            <a:schemeClr val="tx1"/>
                          </a:solidFill>
                          <a:latin typeface="Plus Jakarta Sans"/>
                        </a:rPr>
                        <a:t>Stopwords</a:t>
                      </a:r>
                      <a:endParaRPr sz="1050" b="1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 Yes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Because you used </a:t>
                      </a:r>
                      <a:r>
                        <a:rPr sz="1050" b="0" i="0" u="none" dirty="0" err="1">
                          <a:solidFill>
                            <a:schemeClr val="tx1"/>
                          </a:solidFill>
                          <a:latin typeface="Plus Jakarta Sans"/>
                        </a:rPr>
                        <a:t>stop_words</a:t>
                      </a:r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='</a:t>
                      </a:r>
                      <a:r>
                        <a:rPr sz="1050" b="0" i="0" u="none" dirty="0" err="1">
                          <a:solidFill>
                            <a:schemeClr val="tx1"/>
                          </a:solidFill>
                          <a:latin typeface="Plus Jakarta Sans"/>
                        </a:rPr>
                        <a:t>english</a:t>
                      </a:r>
                      <a:r>
                        <a:rPr sz="1050" b="0" i="0" u="none" dirty="0">
                          <a:solidFill>
                            <a:schemeClr val="tx1"/>
                          </a:solidFill>
                          <a:latin typeface="Plus Jakarta Sans"/>
                        </a:rPr>
                        <a:t>'.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01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Tokenization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2C55E"/>
                          </a:solidFill>
                          <a:latin typeface="Plus Jakarta Sans"/>
                        </a:rPr>
                        <a:t> Yes (automatic)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 smtClean="0">
                          <a:solidFill>
                            <a:srgbClr val="CBD5E1"/>
                          </a:solidFill>
                          <a:latin typeface="Plus Jakarta Sans"/>
                        </a:rPr>
                        <a:t>TfidfVectoriz</a:t>
                      </a:r>
                      <a:r>
                        <a:rPr lang="en-US" sz="1050" b="0" i="0" u="none" dirty="0" err="1" smtClean="0">
                          <a:solidFill>
                            <a:srgbClr val="CBD5E1"/>
                          </a:solidFill>
                          <a:latin typeface="Plus Jakarta Sans"/>
                        </a:rPr>
                        <a:t>e</a:t>
                      </a:r>
                      <a:r>
                        <a:rPr sz="1050" b="0" i="0" u="none" dirty="0" err="1" smtClean="0">
                          <a:solidFill>
                            <a:srgbClr val="CBD5E1"/>
                          </a:solidFill>
                          <a:latin typeface="Plus Jakarta Sans"/>
                        </a:rPr>
                        <a:t>r</a:t>
                      </a:r>
                      <a:r>
                        <a:rPr sz="1050" b="0" i="0" u="none" dirty="0" smtClean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automatically splits text into words (tokens) before creating TF-IDF features.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85800" y="3062287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00350" y="3062287"/>
            <a:ext cx="167580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6154" y="3062287"/>
            <a:ext cx="70300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513683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00350" y="3513683"/>
            <a:ext cx="167580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76154" y="3513683"/>
            <a:ext cx="70300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965078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00350" y="3965078"/>
            <a:ext cx="167580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76154" y="3965078"/>
            <a:ext cx="70300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750" y="4141291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750" y="3238500"/>
            <a:ext cx="1333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750" y="3689895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750" y="3238500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750" y="3689895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750" y="4141291"/>
            <a:ext cx="133350" cy="1333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7725" y="481298"/>
            <a:ext cx="7988626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Feature Engineering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377529"/>
            <a:ext cx="3486150" cy="2291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377529"/>
            <a:ext cx="3486150" cy="22913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575" y="2377529"/>
            <a:ext cx="3486150" cy="22913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29900" y="6248400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16 OF 30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615654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244304"/>
            <a:ext cx="316039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Models 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77679"/>
            <a:ext cx="30099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KNN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Logistic Regression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Random Forest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2615654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91050" y="3244304"/>
            <a:ext cx="316039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Dataset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1050" y="3577679"/>
            <a:ext cx="30099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Training : 80%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Testing : 20%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700" y="2615654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67700" y="3244304"/>
            <a:ext cx="316039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Model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3577679"/>
            <a:ext cx="300990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Accuracy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Precision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Recall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F1-score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720429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825" y="2720429"/>
            <a:ext cx="26670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6762" y="2720429"/>
            <a:ext cx="238125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7725" y="481298"/>
            <a:ext cx="8176634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Model Building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865983"/>
            <a:ext cx="10839450" cy="131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215" y="2913608"/>
            <a:ext cx="4221509" cy="121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9425" y="6248400"/>
            <a:ext cx="8763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17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2340" y="3151733"/>
            <a:ext cx="3932522" cy="219075"/>
          </a:xfrm>
          <a:prstGeom prst="rect">
            <a:avLst/>
          </a:prstGeom>
          <a:noFill/>
        </p:spPr>
        <p:txBody>
          <a:bodyPr wrap="square" lIns="168026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DD4BF"/>
                </a:solidFill>
                <a:latin typeface="Plus Jakarta Sans"/>
              </a:rPr>
              <a:t>Key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2340" y="3466058"/>
            <a:ext cx="374525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Random Forest achieved the highest accuracy and was selected for deployment.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340" y="3189833"/>
            <a:ext cx="168026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481298"/>
            <a:ext cx="7954443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Model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632620"/>
            <a:ext cx="4183260" cy="1781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9900" y="6248400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18 OF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975520"/>
            <a:ext cx="378321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sz="6750" b="0" i="0" u="none">
                <a:solidFill>
                  <a:srgbClr val="2DD4BF"/>
                </a:solidFill>
                <a:latin typeface="Plus Jakarta Sans ExtraBold"/>
              </a:rPr>
              <a:t>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89920"/>
            <a:ext cx="378321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 SemiBold"/>
              </a:rPr>
              <a:t>MODEL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0535" y="2615654"/>
            <a:ext cx="658894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Model Performance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0535" y="2968079"/>
            <a:ext cx="627518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Overall Accuracy : 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0535" y="3211859"/>
            <a:ext cx="627518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Weighted F1-score : 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0535" y="3455640"/>
            <a:ext cx="627518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Macro F1-score : 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0535" y="3699420"/>
            <a:ext cx="627518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Most categories achieved perfect classification.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0535" y="3943201"/>
            <a:ext cx="627518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Technology category obtained 100%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0535" y="4186981"/>
            <a:ext cx="627518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D4BF"/>
                </a:solidFill>
                <a:latin typeface="Plus Jakarta Sans"/>
              </a:rPr>
              <a:t>•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Few categories with limited samples showed lower performance.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81298"/>
            <a:ext cx="8885935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Random Forest Observation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65090"/>
            <a:ext cx="5229225" cy="13162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198465"/>
            <a:ext cx="5229225" cy="971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29900" y="6248400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19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2865090"/>
            <a:ext cx="5490686" cy="219075"/>
          </a:xfrm>
          <a:prstGeom prst="rect">
            <a:avLst/>
          </a:prstGeom>
          <a:noFill/>
        </p:spPr>
        <p:txBody>
          <a:bodyPr wrap="square" lIns="148976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DD4BF"/>
                </a:solidFill>
                <a:latin typeface="Plus Jakarta Sans"/>
              </a:rPr>
              <a:t>After training in Jupyter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112740"/>
            <a:ext cx="4970621" cy="219075"/>
          </a:xfrm>
          <a:prstGeom prst="rect">
            <a:avLst/>
          </a:prstGeom>
          <a:noFill/>
        </p:spPr>
        <p:txBody>
          <a:bodyPr wrap="square" lIns="187076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Saved Files: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2903190"/>
            <a:ext cx="148976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150840"/>
            <a:ext cx="187076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4150" y="3446115"/>
            <a:ext cx="4733925" cy="24378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resume_model.pkl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3689895"/>
            <a:ext cx="4733925" cy="24378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tfidf_vectorizer.pkl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493740"/>
            <a:ext cx="1143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3737520"/>
            <a:ext cx="1143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25" y="481223"/>
            <a:ext cx="8053387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Model Saving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399258"/>
            <a:ext cx="5276850" cy="2247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99258"/>
            <a:ext cx="5276850" cy="2247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91800" y="6248400"/>
            <a:ext cx="923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20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4054" y="2637383"/>
            <a:ext cx="469449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Deployment 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9029" y="2637383"/>
            <a:ext cx="474449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Plus Jakarta Sans"/>
              </a:rPr>
              <a:t>Application Workflow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61195"/>
            <a:ext cx="234404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4900" y="31136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 err="1">
                <a:solidFill>
                  <a:srgbClr val="CBD5E1"/>
                </a:solidFill>
                <a:latin typeface="Plus Jakarta Sans"/>
              </a:rPr>
              <a:t>resume_model.pkl</a:t>
            </a:r>
            <a:endParaRPr sz="1125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4900" y="34374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tfidf_vectorizer.pkl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7613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CBD5E1"/>
                </a:solidFill>
                <a:latin typeface="Plus Jakarta Sans"/>
              </a:rPr>
              <a:t>job_roles.csv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661195"/>
            <a:ext cx="186779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67500" y="31136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Resume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4374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376133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Job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4085183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Download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136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374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613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31136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34374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376133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4085183"/>
            <a:ext cx="142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81298"/>
            <a:ext cx="8766294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Flask Web Application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57425"/>
            <a:ext cx="108204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6248400"/>
            <a:ext cx="1190625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2DD4BF"/>
                </a:solidFill>
                <a:latin typeface="Plus Jakarta Sans ExtraBold"/>
              </a:rPr>
              <a:t>SMART SCREENER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1325" y="6248400"/>
            <a:ext cx="9144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22 OF 30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6257925"/>
            <a:ext cx="114300" cy="104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54431" y="2352675"/>
            <a:ext cx="880318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ospace"/>
              </a:rPr>
              <a:t>127.0.0.1:5000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43250"/>
            <a:ext cx="10363200" cy="182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94A3B8"/>
                </a:solidFill>
                <a:latin typeface="Plus Jakarta Sans"/>
              </a:rPr>
              <a:t>Upload or paste your resume and let Artificial </a:t>
            </a:r>
            <a:r>
              <a:rPr sz="975" b="0" i="0" u="none" dirty="0" err="1" smtClean="0">
                <a:solidFill>
                  <a:srgbClr val="94A3B8"/>
                </a:solidFill>
                <a:latin typeface="Plus Jakarta Sans"/>
              </a:rPr>
              <a:t>Intelligenceredict</a:t>
            </a:r>
            <a:r>
              <a:rPr sz="975" b="0" i="0" u="none" dirty="0" smtClean="0">
                <a:solidFill>
                  <a:srgbClr val="94A3B8"/>
                </a:solidFill>
                <a:latin typeface="Plus Jakarta Sans"/>
              </a:rPr>
              <a:t> </a:t>
            </a:r>
            <a:r>
              <a:rPr sz="975" b="0" i="0" u="none" dirty="0">
                <a:solidFill>
                  <a:srgbClr val="94A3B8"/>
                </a:solidFill>
                <a:latin typeface="Plus Jakarta Sans"/>
              </a:rPr>
              <a:t>your job category.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5128" y="4112865"/>
            <a:ext cx="11430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601" y="4112865"/>
            <a:ext cx="104775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950" y="4112865"/>
            <a:ext cx="142875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7725" y="481298"/>
            <a:ext cx="9108125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FFFFFF"/>
                </a:solidFill>
                <a:latin typeface="Plus Jakarta Sans"/>
              </a:rPr>
              <a:t>Screenshots - Home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C:\Users\user\Desktop\Screenshot 2026-07-20 114639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04058"/>
            <a:ext cx="10744200" cy="503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01325" y="6248400"/>
            <a:ext cx="9144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23 OF 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75" y="481298"/>
            <a:ext cx="8708974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Screenshots - Result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7" name="Picture 3" descr="C:\Users\user\Desktop\Screenshot 2026-07-20 1943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136590"/>
            <a:ext cx="10306050" cy="531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13508"/>
            <a:ext cx="10839450" cy="2819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23033"/>
            <a:ext cx="1082040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446883"/>
            <a:ext cx="10820400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6248400"/>
            <a:ext cx="1190625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2DD4BF"/>
                </a:solidFill>
                <a:latin typeface="Plus Jakarta Sans ExtraBold"/>
              </a:rPr>
              <a:t>SMART SCREENER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1325" y="6248400"/>
            <a:ext cx="9144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24 OF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353" y="2218283"/>
            <a:ext cx="1886396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ospace"/>
              </a:rPr>
              <a:t>127.0.0.1:5000/predict#details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589758"/>
            <a:ext cx="847725" cy="1238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AB308"/>
                </a:solidFill>
                <a:latin typeface="Plus Jakarta Sans"/>
              </a:rPr>
              <a:t>Required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180308"/>
            <a:ext cx="1381125" cy="1238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B82F6"/>
                </a:solidFill>
                <a:latin typeface="Plus Jakarta Sans"/>
              </a:rPr>
              <a:t>Education Requirement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770858"/>
            <a:ext cx="771525" cy="12382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C55E"/>
                </a:solidFill>
                <a:latin typeface="Plus Jakarta Sans"/>
              </a:rPr>
              <a:t>Salary Range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2608808"/>
            <a:ext cx="76200" cy="1047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3925" y="2761208"/>
            <a:ext cx="514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✔ Instruction|Curriculum Development|Student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4575" y="2761208"/>
            <a:ext cx="514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✔ Program Design|Leadership|Instruction|Evaluation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951708"/>
            <a:ext cx="514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✔ Educational Leadership|Management|Budgeting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4575" y="2951708"/>
            <a:ext cx="514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✔ Academic Planning|Student Support|Counseling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199358"/>
            <a:ext cx="133350" cy="1047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925" y="3351758"/>
            <a:ext cx="514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🎓 Bachelor's in Education|Teaching Credential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4575" y="3351758"/>
            <a:ext cx="514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🎓 Master's or PhD in subject 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3542258"/>
            <a:ext cx="514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🎓 Bachelor's in Education|Training Certification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4575" y="3542258"/>
            <a:ext cx="514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🎓 Master's in Education|Administrative Certificate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3789908"/>
            <a:ext cx="104775" cy="1047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3925" y="3942308"/>
            <a:ext cx="3409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💵 40-80K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1025" y="3942308"/>
            <a:ext cx="3409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💵 65-140K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8125" y="3942308"/>
            <a:ext cx="3409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💵 65-115K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481297"/>
            <a:ext cx="8287729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FFFFFF"/>
                </a:solidFill>
                <a:latin typeface="Plus Jakarta Sans"/>
              </a:rPr>
              <a:t>Screenshots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74" name="Picture 2" descr="C:\Users\user\Desktop\Screenshot 2026-07-20 114932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926058"/>
            <a:ext cx="10775950" cy="568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01325" y="6248400"/>
            <a:ext cx="9144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25 OF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4842" y="2265908"/>
            <a:ext cx="169768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ospace"/>
              </a:rPr>
              <a:t>System Generated Report.pdf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5651" y="2685008"/>
            <a:ext cx="558069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sans-serif"/>
              </a:rPr>
              <a:t>Resume Screening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525" y="3214538"/>
            <a:ext cx="5314950" cy="167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25" b="0" i="0" u="none">
                <a:solidFill>
                  <a:srgbClr val="475569"/>
                </a:solidFill>
                <a:latin typeface="serif"/>
              </a:rPr>
              <a:t>Confidence Score : 41.5 %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525" y="3477369"/>
            <a:ext cx="5314950" cy="167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25" b="1" i="0" u="none">
                <a:solidFill>
                  <a:srgbClr val="1E293B"/>
                </a:solidFill>
                <a:latin typeface="serif"/>
              </a:rPr>
              <a:t>Recommended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525" y="4519166"/>
            <a:ext cx="5314950" cy="167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25" b="1" i="0" u="none">
                <a:solidFill>
                  <a:srgbClr val="1E293B"/>
                </a:solidFill>
                <a:latin typeface="serif"/>
              </a:rPr>
              <a:t>Required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525" y="4734371"/>
            <a:ext cx="5314950" cy="111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77"/>
              </a:lnSpc>
            </a:pPr>
            <a:r>
              <a:rPr sz="675" b="0" i="0" u="none">
                <a:solidFill>
                  <a:srgbClr val="555555"/>
                </a:solidFill>
                <a:latin typeface="serif"/>
              </a:rPr>
              <a:t>• Instruction|Curriculum Development|Student Assessment|Patience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4250" y="3690669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serif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4250" y="3934450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serif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400" y="3936355"/>
            <a:ext cx="5172075" cy="21781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CBD5E1"/>
                </a:solidFill>
                <a:latin typeface="serif"/>
              </a:rPr>
              <a:t>College </a:t>
            </a:r>
            <a:r>
              <a:rPr sz="1200" b="0" i="0" u="none" dirty="0" err="1" smtClean="0">
                <a:solidFill>
                  <a:srgbClr val="CBD5E1"/>
                </a:solidFill>
                <a:latin typeface="serif"/>
              </a:rPr>
              <a:t>Profesor</a:t>
            </a:r>
            <a:endParaRPr sz="1200" b="0" i="0" u="none" dirty="0">
              <a:solidFill>
                <a:srgbClr val="CBD5E1"/>
              </a:solidFill>
              <a:latin typeface="serif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24250" y="4178230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serif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400" y="4180135"/>
            <a:ext cx="5172075" cy="21781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CBD5E1"/>
                </a:solidFill>
                <a:latin typeface="serif"/>
              </a:rPr>
              <a:t>Training </a:t>
            </a:r>
            <a:r>
              <a:rPr sz="1200" b="0" i="0" u="none" dirty="0" err="1" smtClean="0">
                <a:solidFill>
                  <a:srgbClr val="CBD5E1"/>
                </a:solidFill>
                <a:latin typeface="serif"/>
              </a:rPr>
              <a:t>Managr</a:t>
            </a:r>
            <a:endParaRPr sz="1200" b="0" i="0" u="none" dirty="0">
              <a:solidFill>
                <a:srgbClr val="CBD5E1"/>
              </a:solidFill>
              <a:latin typeface="serif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7725" y="481298"/>
            <a:ext cx="8105775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Screenshots - Result PDF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50" name="Picture 2" descr="D:\capstone_project\screenshots\result-pdf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958" y="1093862"/>
            <a:ext cx="6066517" cy="550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544216"/>
            <a:ext cx="5276850" cy="19579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44216"/>
            <a:ext cx="5276850" cy="19579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6124575"/>
            <a:ext cx="108394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01325" y="6248400"/>
            <a:ext cx="9144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26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913757"/>
            <a:ext cx="46863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The deployed Flask application loads the saved Random Forest model, TF-IDF vectorizer, and job dataset, extracts text from uploaded PDF, DOCX, or TXT resumes, predicts the job category, recommends matching jobs, and allows downloading the screening result as a PDF.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791866"/>
            <a:ext cx="4781550" cy="24378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035647"/>
            <a:ext cx="4781550" cy="24378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Accurate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279427"/>
            <a:ext cx="4781550" cy="24378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Easy to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523208"/>
            <a:ext cx="4781550" cy="24378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Predicts job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766988"/>
            <a:ext cx="4781550" cy="24378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Recommends relevant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010769"/>
            <a:ext cx="4781550" cy="24378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Generates downloadable PDF reports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839491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3083272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327052"/>
            <a:ext cx="1714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3570833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3814613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4058394"/>
            <a:ext cx="13335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7725" y="481298"/>
            <a:ext cx="8663744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Advantages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580233"/>
            <a:ext cx="5276850" cy="1885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80233"/>
            <a:ext cx="5276850" cy="1885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10850" y="6248400"/>
            <a:ext cx="9048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27 OF 30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2818358"/>
            <a:ext cx="1524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16919" y="3037433"/>
            <a:ext cx="1995561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Dataset dependent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0700" y="354225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Classification capabilities and mapping structures are rigidly tied to the coverage of the training records.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575" y="2818358"/>
            <a:ext cx="17145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1711" y="3037433"/>
            <a:ext cx="1911176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Limited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3300" y="354225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Predictions are restricted to the pre-configured categories present inside the trained taxonomic dataset.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025" y="2856458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0" y="2856458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25" y="481298"/>
            <a:ext cx="9373045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601325" y="6248400"/>
            <a:ext cx="9144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28 OF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2575619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Successfully automated resume screening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, shifting from administrative pipelines to algorithmic speeds.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2954684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Reduced manual effort in recruitment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, enabling streamlined high-throughput standard HR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3333750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Achieved 96.92% accuracy using Random Forest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, validating the efficacy of the selected classification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3712815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Recommended suitable job roles based on resume content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, leveraging the statistical weight of vectorized competency keys.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91880"/>
            <a:ext cx="91821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162" b="0" i="0" u="none">
                <a:solidFill>
                  <a:srgbClr val="FFFFFF"/>
                </a:solidFill>
                <a:latin typeface="Plus Jakarta Sans SemiBold"/>
              </a:rPr>
              <a:t>Built a complete end-to-end solution</a:t>
            </a:r>
            <a:r>
              <a:rPr sz="1162" b="0" i="0" u="none">
                <a:solidFill>
                  <a:srgbClr val="CBD5E1"/>
                </a:solidFill>
                <a:latin typeface="Plus Jakarta Sans"/>
              </a:rPr>
              <a:t> using Jupyter Notebook for model development and Flask for web deployment.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613719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992784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371850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750915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4129980"/>
            <a:ext cx="12382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25" y="481298"/>
            <a:ext cx="8860297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Conclusion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424112"/>
            <a:ext cx="10839450" cy="21983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708052"/>
            <a:ext cx="10058400" cy="523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01325" y="6248400"/>
            <a:ext cx="9144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29 OF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3335" y="2814637"/>
            <a:ext cx="10165958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Kaggle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243262"/>
            <a:ext cx="10058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Resume and Job datasets.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843212"/>
            <a:ext cx="28128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6825" y="3869977"/>
            <a:ext cx="2190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DD4BF"/>
                </a:solidFill>
                <a:latin typeface="JetBrains Mono SemiBold"/>
              </a:rPr>
              <a:t>https://www.kaggle.com/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81298"/>
            <a:ext cx="8860297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91800" y="6248548"/>
            <a:ext cx="923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SLIDE 30 OF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656" y="3311872"/>
            <a:ext cx="5500687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5625" b="1" i="0" u="none">
                <a:solidFill>
                  <a:srgbClr val="2DD4BF"/>
                </a:solidFill>
                <a:latin typeface="Plus Jakarta Sans"/>
              </a:rPr>
              <a:t>Thank You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4887" y="1969889"/>
            <a:ext cx="2857500" cy="1341983"/>
          </a:xfrm>
          <a:prstGeom prst="roundRect">
            <a:avLst>
              <a:gd name="adj" fmla="val 3548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63942" y="1900099"/>
            <a:ext cx="2857500" cy="1341983"/>
          </a:xfrm>
          <a:prstGeom prst="roundRect">
            <a:avLst>
              <a:gd name="adj" fmla="val 3548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1221</Words>
  <Application>Microsoft Office PowerPoint</Application>
  <PresentationFormat>Custom</PresentationFormat>
  <Paragraphs>335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dc:description>generated using python-pptx</dc:description>
  <cp:lastModifiedBy>user</cp:lastModifiedBy>
  <cp:revision>8</cp:revision>
  <dcterms:created xsi:type="dcterms:W3CDTF">2013-01-27T09:14:16Z</dcterms:created>
  <dcterms:modified xsi:type="dcterms:W3CDTF">2026-07-20T14:31:21Z</dcterms:modified>
</cp:coreProperties>
</file>